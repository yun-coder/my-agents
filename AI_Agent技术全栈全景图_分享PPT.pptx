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spPr>
            <a:solidFill>
              <a:srgbClr val="00C2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0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A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07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C2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A8C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90A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7A8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607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38D9F5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0C2E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Prompt 工程</c:v>
                  </c:pt>
                  <c:pt idx="1">
                    <c:v>OpenAI API</c:v>
                  </c:pt>
                  <c:pt idx="2">
                    <c:v>Function Call</c:v>
                  </c:pt>
                  <c:pt idx="3">
                    <c:v>LangChain</c:v>
                  </c:pt>
                  <c:pt idx="4">
                    <c:v>LangGraph</c:v>
                  </c:pt>
                  <c:pt idx="5">
                    <c:v>向量数据库</c:v>
                  </c:pt>
                  <c:pt idx="6">
                    <c:v>Embedding</c:v>
                  </c:pt>
                  <c:pt idx="7">
                    <c:v>Claude API</c:v>
                  </c:pt>
                  <c:pt idx="8">
                    <c:v>结构化输出</c:v>
                  </c:pt>
                  <c:pt idx="9">
                    <c:v>MCP 协议</c:v>
                  </c:pt>
                  <c:pt idx="10">
                    <c:v>FastAPI</c:v>
                  </c:pt>
                  <c:pt idx="11">
                    <c:v>LangSmith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7"/>
        </c:scaling>
        <c:delete val="0"/>
        <c:axPos val="b"/>
        <c:majorGridlines>
          <c:spPr>
            <a:ln w="10160" cap="flat">
              <a:solidFill>
                <a:srgbClr val="1E4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40"/>
        </a:solidFill>
        <a:ln>
          <a:noFill/>
        </a:ln>
        <a:effectLst/>
      </c:spPr>
    </c:plotArea>
    <c:plotVisOnly val="1"/>
    <c:dispBlanksAs val="span"/>
  </c:chart>
  <c:spPr>
    <a:solidFill>
      <a:srgbClr val="0F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D2A5E">
              <a:alpha val="70000"/>
            </a:srgbClr>
          </a:solidFill>
          <a:ln w="19050">
            <a:solidFill>
              <a:srgbClr val="00C2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822960"/>
            <a:ext cx="2743200" cy="2743200"/>
          </a:xfrm>
          <a:prstGeom prst="ellipse">
            <a:avLst/>
          </a:prstGeom>
          <a:solidFill>
            <a:srgbClr val="0A1F4E">
              <a:alpha val="80000"/>
            </a:srgbClr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091535">
              <a:alpha val="8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4008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0C2E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640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专业研发团队内部培训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技术全栈全景图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</a:rPr>
              <a:t>从框架选型到生产部署 · 37项核心技术 · 10大技术领域 · 完整学习路径规划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566160"/>
            <a:ext cx="164592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566160"/>
            <a:ext cx="164592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6393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E0"/>
                </a:solidFill>
              </a:rPr>
              <a:t>37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11480" y="4160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核心技术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3566160"/>
            <a:ext cx="164592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31720" y="3566160"/>
            <a:ext cx="164592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36393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E0"/>
                </a:solidFill>
              </a:rPr>
              <a:t>10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331720" y="4160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技术领域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566160"/>
            <a:ext cx="164592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566160"/>
            <a:ext cx="164592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36393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E0"/>
                </a:solidFill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251960" y="4160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学习阶段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858000" y="11887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今日分享内容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658368" cy="6583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161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为什么 AI Agent 时代已来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490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0"/>
                </a:solidFill>
              </a:rPr>
              <a:t>行业趋势与团队布局价值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11096"/>
            <a:ext cx="84124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11096"/>
            <a:ext cx="658368" cy="6583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984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大技术领域全景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2585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0"/>
                </a:solidFill>
              </a:rPr>
              <a:t>37项技术的分类与定位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79192"/>
            <a:ext cx="84124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79192"/>
            <a:ext cx="658368" cy="6583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79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7523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核心技术深度解析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0266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0"/>
                </a:solidFill>
              </a:rPr>
              <a:t>框架 · LLM · RAG · 工具 · Prompt · 记忆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84124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47288"/>
            <a:ext cx="658368" cy="6583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47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工程化与安全合规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0"/>
                </a:solidFill>
              </a:rPr>
              <a:t>从开发到生产的完整闭环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15384"/>
            <a:ext cx="84124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15384"/>
            <a:ext cx="658368" cy="6583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215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42885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学习路径与行动计划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5628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0"/>
                </a:solidFill>
              </a:rPr>
              <a:t>4阶段 · 难度 · 时长 · 重要性权重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为什么 AI Agent 时代已来？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06040" cy="54864"/>
          </a:xfrm>
          <a:prstGeom prst="rect">
            <a:avLst/>
          </a:prstGeom>
          <a:solidFill>
            <a:srgbClr val="00C2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80%+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65760" y="2724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企业 AI 预算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</a:rPr>
              <a:t>流向 Agent 与自动化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0604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606040" cy="54864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10×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200400" y="2724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效率提升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0040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</a:rPr>
              <a:t>vs. 传统 RPA 方案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1143000"/>
            <a:ext cx="260604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143000"/>
            <a:ext cx="2606040" cy="54864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20299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6035040" y="2724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元年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03504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B0"/>
                </a:solidFill>
              </a:rPr>
              <a:t>行业共识，窗口期已开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061528"/>
          </a:solidFill>
          <a:ln w="19050">
            <a:solidFill>
              <a:srgbClr val="00C2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5760" y="3611880"/>
            <a:ext cx="73152" cy="12344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5" name="Text 20"/>
          <p:cNvSpPr/>
          <p:nvPr/>
        </p:nvSpPr>
        <p:spPr>
          <a:xfrm>
            <a:off x="594360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</a:rPr>
              <a:t>核心判断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94360" y="395935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Agent = LLM 大脑 + 工具手臂 + 记忆系统。它能感知、规划、执行、反思，是下一代软件的基础架构。掌握 Agent 全栈技术的团队，将在未来 3 年内形成不可逾越的竞争壁垒。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 大技术领域全景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" y="109728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097280"/>
            <a:ext cx="1664208" cy="45720"/>
          </a:xfrm>
          <a:prstGeom prst="rect">
            <a:avLst/>
          </a:prstGeom>
          <a:solidFill>
            <a:srgbClr val="00C2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07008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7190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C2E0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1719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6项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2880" y="197510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核心 Agent 框架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82880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LangChain · LlamaIndex · LangGraph · CrewAI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11096" y="109728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11096" y="1097280"/>
            <a:ext cx="1664208" cy="4572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207008"/>
            <a:ext cx="475488" cy="475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956816" y="17190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/>
        </p:spPr>
      </p:sp>
      <p:sp>
        <p:nvSpPr>
          <p:cNvPr id="16" name="Text 12"/>
          <p:cNvSpPr/>
          <p:nvPr/>
        </p:nvSpPr>
        <p:spPr>
          <a:xfrm>
            <a:off x="1956816" y="1719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4项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956816" y="197510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大语言模型 API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956816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OpenAI · Claude · Gemini · 开源模型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685032" y="109728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85032" y="1097280"/>
            <a:ext cx="1664208" cy="45720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207008"/>
            <a:ext cx="475488" cy="47548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730752" y="17190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7C4DFF"/>
          </a:solidFill>
          <a:ln/>
        </p:spPr>
      </p:sp>
      <p:sp>
        <p:nvSpPr>
          <p:cNvPr id="23" name="Text 18"/>
          <p:cNvSpPr/>
          <p:nvPr/>
        </p:nvSpPr>
        <p:spPr>
          <a:xfrm>
            <a:off x="3730752" y="1719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4项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730752" y="197510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RAG 与向量检索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730752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向量数据库 · Embedding · 重排序 · 文档解析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458968" y="109728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58968" y="1097280"/>
            <a:ext cx="1664208" cy="45720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207008"/>
            <a:ext cx="475488" cy="47548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504688" y="17190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/>
        </p:spPr>
      </p:sp>
      <p:sp>
        <p:nvSpPr>
          <p:cNvPr id="30" name="Text 24"/>
          <p:cNvSpPr/>
          <p:nvPr/>
        </p:nvSpPr>
        <p:spPr>
          <a:xfrm>
            <a:off x="5504688" y="1719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4项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504688" y="197510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工具调用 &amp; MCP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504688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Function Call · MCP · 浏览器 · 代码执行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7232904" y="109728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32904" y="1097280"/>
            <a:ext cx="1664208" cy="4572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1207008"/>
            <a:ext cx="475488" cy="47548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278624" y="171907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FF8C42"/>
          </a:solidFill>
          <a:ln/>
        </p:spPr>
      </p:sp>
      <p:sp>
        <p:nvSpPr>
          <p:cNvPr id="37" name="Text 30"/>
          <p:cNvSpPr/>
          <p:nvPr/>
        </p:nvSpPr>
        <p:spPr>
          <a:xfrm>
            <a:off x="7278624" y="1719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3项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278624" y="197510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Prompt 工程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278624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Prompt 设计 · 结构化输出 · DSPy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137160" y="306324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37160" y="3063240"/>
            <a:ext cx="1664208" cy="45720"/>
          </a:xfrm>
          <a:prstGeom prst="rect">
            <a:avLst/>
          </a:prstGeom>
          <a:solidFill>
            <a:srgbClr val="E040FB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72968"/>
            <a:ext cx="475488" cy="475488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82880" y="368503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E040FB"/>
          </a:solidFill>
          <a:ln/>
        </p:spPr>
      </p:sp>
      <p:sp>
        <p:nvSpPr>
          <p:cNvPr id="44" name="Text 36"/>
          <p:cNvSpPr/>
          <p:nvPr/>
        </p:nvSpPr>
        <p:spPr>
          <a:xfrm>
            <a:off x="182880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3项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82880" y="39410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记忆与状态管理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182880" y="4270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短期记忆 · 长期记忆 · 状态持久化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1911096" y="306324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1911096" y="3063240"/>
            <a:ext cx="1664208" cy="45720"/>
          </a:xfrm>
          <a:prstGeom prst="rect">
            <a:avLst/>
          </a:prstGeom>
          <a:solidFill>
            <a:srgbClr val="26C6DA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456" y="3172968"/>
            <a:ext cx="475488" cy="475488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956816" y="368503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26C6DA"/>
          </a:solidFill>
          <a:ln/>
        </p:spPr>
      </p:sp>
      <p:sp>
        <p:nvSpPr>
          <p:cNvPr id="51" name="Text 42"/>
          <p:cNvSpPr/>
          <p:nvPr/>
        </p:nvSpPr>
        <p:spPr>
          <a:xfrm>
            <a:off x="1956816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3项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956816" y="39410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评估与可观测性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1956816" y="4270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LangSmith · LangFuse · RAGAS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3685032" y="306324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3685032" y="3063240"/>
            <a:ext cx="1664208" cy="45720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392" y="3172968"/>
            <a:ext cx="475488" cy="475488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3730752" y="368503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66BB6A"/>
          </a:solidFill>
          <a:ln/>
        </p:spPr>
      </p:sp>
      <p:sp>
        <p:nvSpPr>
          <p:cNvPr id="58" name="Text 48"/>
          <p:cNvSpPr/>
          <p:nvPr/>
        </p:nvSpPr>
        <p:spPr>
          <a:xfrm>
            <a:off x="3730752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4项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3730752" y="39410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部署与工程化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3730752" y="4270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FastAPI · Docker/K8s · 消息队列</a:t>
            </a:r>
            <a:endParaRPr lang="en-US" sz="800" dirty="0"/>
          </a:p>
        </p:txBody>
      </p:sp>
      <p:sp>
        <p:nvSpPr>
          <p:cNvPr id="61" name="Shape 51"/>
          <p:cNvSpPr/>
          <p:nvPr/>
        </p:nvSpPr>
        <p:spPr>
          <a:xfrm>
            <a:off x="5458968" y="306324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Shape 52"/>
          <p:cNvSpPr/>
          <p:nvPr/>
        </p:nvSpPr>
        <p:spPr>
          <a:xfrm>
            <a:off x="5458968" y="3063240"/>
            <a:ext cx="1664208" cy="45720"/>
          </a:xfrm>
          <a:prstGeom prst="rect">
            <a:avLst/>
          </a:prstGeom>
          <a:solidFill>
            <a:srgbClr val="FF4757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3172968"/>
            <a:ext cx="475488" cy="475488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5504688" y="368503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</p:spPr>
      </p:sp>
      <p:sp>
        <p:nvSpPr>
          <p:cNvPr id="65" name="Text 54"/>
          <p:cNvSpPr/>
          <p:nvPr/>
        </p:nvSpPr>
        <p:spPr>
          <a:xfrm>
            <a:off x="5504688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3项</a:t>
            </a:r>
            <a:endParaRPr lang="en-US" sz="900" dirty="0"/>
          </a:p>
        </p:txBody>
      </p:sp>
      <p:sp>
        <p:nvSpPr>
          <p:cNvPr id="66" name="Text 55"/>
          <p:cNvSpPr/>
          <p:nvPr/>
        </p:nvSpPr>
        <p:spPr>
          <a:xfrm>
            <a:off x="5504688" y="39410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安全与合规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5504688" y="4270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Guardrails · 提示注入防御 · 权限隔离</a:t>
            </a:r>
            <a:endParaRPr lang="en-US" sz="800" dirty="0"/>
          </a:p>
        </p:txBody>
      </p:sp>
      <p:sp>
        <p:nvSpPr>
          <p:cNvPr id="68" name="Shape 57"/>
          <p:cNvSpPr/>
          <p:nvPr/>
        </p:nvSpPr>
        <p:spPr>
          <a:xfrm>
            <a:off x="7232904" y="3063240"/>
            <a:ext cx="1664208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9" name="Shape 58"/>
          <p:cNvSpPr/>
          <p:nvPr/>
        </p:nvSpPr>
        <p:spPr>
          <a:xfrm>
            <a:off x="7232904" y="3063240"/>
            <a:ext cx="1664208" cy="45720"/>
          </a:xfrm>
          <a:prstGeom prst="rect">
            <a:avLst/>
          </a:prstGeom>
          <a:solidFill>
            <a:srgbClr val="FFA726"/>
          </a:solidFill>
          <a:ln/>
        </p:spPr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264" y="3172968"/>
            <a:ext cx="475488" cy="475488"/>
          </a:xfrm>
          <a:prstGeom prst="rect">
            <a:avLst/>
          </a:prstGeom>
        </p:spPr>
      </p:pic>
      <p:sp>
        <p:nvSpPr>
          <p:cNvPr id="71" name="Shape 59"/>
          <p:cNvSpPr/>
          <p:nvPr/>
        </p:nvSpPr>
        <p:spPr>
          <a:xfrm>
            <a:off x="7278624" y="368503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FFA726"/>
          </a:solidFill>
          <a:ln/>
        </p:spPr>
      </p:sp>
      <p:sp>
        <p:nvSpPr>
          <p:cNvPr id="72" name="Text 60"/>
          <p:cNvSpPr/>
          <p:nvPr/>
        </p:nvSpPr>
        <p:spPr>
          <a:xfrm>
            <a:off x="7278624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3项</a:t>
            </a:r>
            <a:endParaRPr lang="en-US" sz="900" dirty="0"/>
          </a:p>
        </p:txBody>
      </p:sp>
      <p:sp>
        <p:nvSpPr>
          <p:cNvPr id="73" name="Text 61"/>
          <p:cNvSpPr/>
          <p:nvPr/>
        </p:nvSpPr>
        <p:spPr>
          <a:xfrm>
            <a:off x="7278624" y="39410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前沿能力</a:t>
            </a:r>
            <a:endParaRPr lang="en-US" sz="1050" dirty="0"/>
          </a:p>
        </p:txBody>
      </p:sp>
      <p:sp>
        <p:nvSpPr>
          <p:cNvPr id="74" name="Text 62"/>
          <p:cNvSpPr/>
          <p:nvPr/>
        </p:nvSpPr>
        <p:spPr>
          <a:xfrm>
            <a:off x="7278624" y="4270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0"/>
                </a:solidFill>
              </a:rPr>
              <a:t>Computer Use · 多模态 · 微调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 Agent 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E0"/>
                </a:solidFill>
              </a:rPr>
              <a:t>选对框架 = 少走 6 个月弯路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2788920" cy="181051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78992"/>
            <a:ext cx="54864" cy="181051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LangChain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12848" y="117043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00C2E0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权重 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554480"/>
            <a:ext cx="713232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55448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第一阶段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155448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55448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中级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55648" y="155448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00C2E0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155448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全栈首选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1856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生态最全的 LLM 框架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链式调用 · 记忆管理 · 工具调用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25603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⏱ 建议学习时长：3-4周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1078992"/>
            <a:ext cx="2788920" cy="181051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1078992"/>
            <a:ext cx="54864" cy="181051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1170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LlamaIndex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57216" y="117043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157216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权重 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1554480"/>
            <a:ext cx="713232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155448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第一阶段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41648" y="155448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4041648" y="155448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中级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0016" y="155448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00C896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00016" y="155448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96"/>
                </a:solidFill>
              </a:rPr>
              <a:t>RAG 专家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4408" y="1856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RAG 与知识库首选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数据摄取 · 语义检索 · 问答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4408" y="2560320"/>
            <a:ext cx="25603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3264408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⏱ 建议学习时长：2-3周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71616" y="1078992"/>
            <a:ext cx="2788920" cy="181051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71616" y="1078992"/>
            <a:ext cx="54864" cy="181051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6" name="Text 34"/>
          <p:cNvSpPr/>
          <p:nvPr/>
        </p:nvSpPr>
        <p:spPr>
          <a:xfrm>
            <a:off x="6208776" y="1170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LangGraph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101584" y="117043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8101584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权重 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08776" y="1554480"/>
            <a:ext cx="713232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6208776" y="155448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第二阶段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86016" y="155448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42" name="Text 40"/>
          <p:cNvSpPr/>
          <p:nvPr/>
        </p:nvSpPr>
        <p:spPr>
          <a:xfrm>
            <a:off x="6986016" y="155448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高级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44384" y="155448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FFD166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644384" y="155448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生产首选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08776" y="1856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状态机复杂流程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循环分支 · 持久化 · 生产级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08776" y="2560320"/>
            <a:ext cx="25603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Text 45"/>
          <p:cNvSpPr/>
          <p:nvPr/>
        </p:nvSpPr>
        <p:spPr>
          <a:xfrm>
            <a:off x="6208776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⏱ 建议学习时长：4-6周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" y="3044952"/>
            <a:ext cx="2788920" cy="181051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" y="3044952"/>
            <a:ext cx="54864" cy="181051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3136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CrewAI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2212848" y="313639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52" name="Text 50"/>
          <p:cNvSpPr/>
          <p:nvPr/>
        </p:nvSpPr>
        <p:spPr>
          <a:xfrm>
            <a:off x="2212848" y="3136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权重 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520440"/>
            <a:ext cx="713232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352044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第二阶段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97280" y="352044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56" name="Text 54"/>
          <p:cNvSpPr/>
          <p:nvPr/>
        </p:nvSpPr>
        <p:spPr>
          <a:xfrm>
            <a:off x="1097280" y="352044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初级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755648" y="352044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7C4DFF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755648" y="352044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FF"/>
                </a:solidFill>
              </a:rPr>
              <a:t>快速上手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" y="3822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角色驱动多 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角色 · 任务 · 工具三要素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20040" y="4526280"/>
            <a:ext cx="25603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1" name="Text 59"/>
          <p:cNvSpPr/>
          <p:nvPr/>
        </p:nvSpPr>
        <p:spPr>
          <a:xfrm>
            <a:off x="320040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⏱ 建议学习时长：1-2周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27248" y="3044952"/>
            <a:ext cx="2788920" cy="181051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127248" y="3044952"/>
            <a:ext cx="54864" cy="181051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64" name="Text 62"/>
          <p:cNvSpPr/>
          <p:nvPr/>
        </p:nvSpPr>
        <p:spPr>
          <a:xfrm>
            <a:off x="3264408" y="3136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AutoGen / AG2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5157216" y="313639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8C42"/>
          </a:solidFill>
          <a:ln/>
        </p:spPr>
      </p:sp>
      <p:sp>
        <p:nvSpPr>
          <p:cNvPr id="66" name="Text 64"/>
          <p:cNvSpPr/>
          <p:nvPr/>
        </p:nvSpPr>
        <p:spPr>
          <a:xfrm>
            <a:off x="5157216" y="3136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权重 7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64408" y="3520440"/>
            <a:ext cx="713232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68" name="Text 66"/>
          <p:cNvSpPr/>
          <p:nvPr/>
        </p:nvSpPr>
        <p:spPr>
          <a:xfrm>
            <a:off x="3264408" y="352044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第二阶段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41648" y="352044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70" name="Text 68"/>
          <p:cNvSpPr/>
          <p:nvPr/>
        </p:nvSpPr>
        <p:spPr>
          <a:xfrm>
            <a:off x="4041648" y="352044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中级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00016" y="352044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FF8C42">
              <a:alpha val="3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700016" y="352044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8C42"/>
                </a:solidFill>
              </a:rPr>
              <a:t>对话协作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264408" y="3822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微软多 Agent 协作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Agent 间对话 · 任务分发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264408" y="4526280"/>
            <a:ext cx="25603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5" name="Text 73"/>
          <p:cNvSpPr/>
          <p:nvPr/>
        </p:nvSpPr>
        <p:spPr>
          <a:xfrm>
            <a:off x="3264408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⏱ 建议学习时长：2周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071616" y="3044952"/>
            <a:ext cx="2788920" cy="181051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071616" y="3044952"/>
            <a:ext cx="54864" cy="1810512"/>
          </a:xfrm>
          <a:prstGeom prst="rect">
            <a:avLst/>
          </a:prstGeom>
          <a:solidFill>
            <a:srgbClr val="E040FB"/>
          </a:solidFill>
          <a:ln/>
        </p:spPr>
      </p:sp>
      <p:sp>
        <p:nvSpPr>
          <p:cNvPr id="78" name="Text 76"/>
          <p:cNvSpPr/>
          <p:nvPr/>
        </p:nvSpPr>
        <p:spPr>
          <a:xfrm>
            <a:off x="6208776" y="3136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Pydantic AI</a:t>
            </a: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8101584" y="313639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040FB"/>
          </a:solidFill>
          <a:ln/>
        </p:spPr>
      </p:sp>
      <p:sp>
        <p:nvSpPr>
          <p:cNvPr id="80" name="Text 78"/>
          <p:cNvSpPr/>
          <p:nvPr/>
        </p:nvSpPr>
        <p:spPr>
          <a:xfrm>
            <a:off x="8101584" y="3136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权重 7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208776" y="3520440"/>
            <a:ext cx="713232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82" name="Text 80"/>
          <p:cNvSpPr/>
          <p:nvPr/>
        </p:nvSpPr>
        <p:spPr>
          <a:xfrm>
            <a:off x="6208776" y="352044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第三阶段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986016" y="352044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1A3A6B"/>
          </a:solidFill>
          <a:ln/>
        </p:spPr>
      </p:sp>
      <p:sp>
        <p:nvSpPr>
          <p:cNvPr id="84" name="Text 82"/>
          <p:cNvSpPr/>
          <p:nvPr/>
        </p:nvSpPr>
        <p:spPr>
          <a:xfrm>
            <a:off x="6986016" y="352044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中级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644384" y="3520440"/>
            <a:ext cx="594360" cy="210312"/>
          </a:xfrm>
          <a:prstGeom prst="roundRect">
            <a:avLst>
              <a:gd name="adj" fmla="val 17391"/>
            </a:avLst>
          </a:prstGeom>
          <a:solidFill>
            <a:srgbClr val="E040FB">
              <a:alpha val="30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7644384" y="352044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40FB"/>
                </a:solidFill>
              </a:rPr>
              <a:t>生产安全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208776" y="3822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类型安全生产框架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强类型约束 · 结构化 LLM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208776" y="4526280"/>
            <a:ext cx="25603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9" name="Text 87"/>
          <p:cNvSpPr/>
          <p:nvPr/>
        </p:nvSpPr>
        <p:spPr>
          <a:xfrm>
            <a:off x="6208776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⏱ 建议学习时长：1-2周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大语言模型 API  ×  RAG 与向量检索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选对 LLM + 搭好知识库 = Agent 的大脑 + 长期记忆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大语言模型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931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45720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53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 GPT-4o / o3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函数调用 · 视觉 · 结构化输出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24912" y="1508760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0C2E0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24912" y="15087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全球首选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01568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</a:rPr>
              <a:t>10/10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93392"/>
            <a:ext cx="3931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93392"/>
            <a:ext cx="45720" cy="5029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0299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Anthropic Claude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长上下文 · 指令跟随 · 安全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24912" y="208483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7C4DFF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24912" y="20848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FF"/>
                </a:solidFill>
              </a:rPr>
              <a:t>复杂推理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01568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9/10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569464"/>
            <a:ext cx="3931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69464"/>
            <a:ext cx="4572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606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Gemini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100万 Token · 视频/音频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24912" y="266090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D166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24912" y="26609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多模态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1568" y="2660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7/10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45536"/>
            <a:ext cx="3931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145536"/>
            <a:ext cx="45720" cy="5029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182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开源模型 Llama/Qwen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数据隔离 · 成本可控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24912" y="3236976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8C42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24912" y="32369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8C42"/>
                </a:solidFill>
              </a:rPr>
              <a:t>私有部署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01568" y="3236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7/10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1051560"/>
            <a:ext cx="0" cy="3931920"/>
          </a:xfrm>
          <a:prstGeom prst="line">
            <a:avLst/>
          </a:prstGeom>
          <a:noFill/>
          <a:ln w="19050">
            <a:solidFill>
              <a:srgbClr val="1E408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DFF"/>
                </a:solidFill>
              </a:rPr>
              <a:t>RAG 与向量检索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1417320"/>
            <a:ext cx="40233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417320"/>
            <a:ext cx="384048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4173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30368" y="1453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文档解析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1673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Unstructured · DocLing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19202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</a:rPr>
              <a:t>↓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1993392"/>
            <a:ext cx="40233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1993392"/>
            <a:ext cx="384048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199339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30368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2249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OpenAI · BGE · Cohere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249631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1B9A"/>
                </a:solidFill>
              </a:rPr>
              <a:t>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569464"/>
            <a:ext cx="40233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2569464"/>
            <a:ext cx="384048" cy="502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256946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30368" y="2606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向量存储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30368" y="2825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Qdrant · Pinecone · Chroma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54880" y="307238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95C"/>
                </a:solidFill>
              </a:rPr>
              <a:t>↓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3145536"/>
            <a:ext cx="40233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3145536"/>
            <a:ext cx="384048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314553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230368" y="31821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语义检索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30368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Top-K 召回 · 混合搜索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54880" y="364845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5100"/>
                </a:solidFill>
              </a:rPr>
              <a:t>↓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54880" y="3721608"/>
            <a:ext cx="40233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54880" y="3721608"/>
            <a:ext cx="384048" cy="50292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372160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230368" y="3758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重排序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230368" y="3977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Reranker · CrossEncoder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754880" y="42245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0E4F"/>
                </a:solidFill>
              </a:rPr>
              <a:t>↓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54880" y="4297680"/>
            <a:ext cx="40233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0" y="4297680"/>
            <a:ext cx="384048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0" y="42976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230368" y="4334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生成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230368" y="4553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答案合成 · 引用溯源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工具调用 &amp; MCP  ×  Prompt 工程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</a:rPr>
              <a:t>Agent 的手臂 + Agent 的语言中枢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工具调用 &amp; MCP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93192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45720" cy="80467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 Calling / Tool Use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4721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0C2E0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472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10分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746504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465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必学 · 第一阶段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1947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LLM 行动能力的基础，支持 OpenAI / Anthropic / Gemini 原生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393192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13432"/>
            <a:ext cx="45720" cy="8046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(Model Context Protocol)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36829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FD166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2368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9分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642616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426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新标准 · 第一阶段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2843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Anthropic 开放协议，统一接入 GitHub / 数据库 / Slack 等工具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09544"/>
            <a:ext cx="393192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09544"/>
            <a:ext cx="45720" cy="80467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264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浏览器自动化 Playwright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3264408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F8C42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32644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7分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538728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538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进阶 · 第二阶段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3739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让 Agent 控制浏览器操作，实现 Web 层任务自动化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105656"/>
            <a:ext cx="393192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105656"/>
            <a:ext cx="45720" cy="80467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代码执行 E2B / Modal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08960" y="416052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0C896"/>
          </a:solidFill>
          <a:ln/>
        </p:spPr>
      </p:sp>
      <p:sp>
        <p:nvSpPr>
          <p:cNvPr id="35" name="Text 33"/>
          <p:cNvSpPr/>
          <p:nvPr/>
        </p:nvSpPr>
        <p:spPr>
          <a:xfrm>
            <a:off x="3108960" y="4160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7分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4434840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4348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进阶 · 第二阶段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" y="4636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0"/>
                </a:solidFill>
              </a:rPr>
              <a:t>安全沙箱执行代码，支持数据分析、绘图、自动化测试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1051560"/>
            <a:ext cx="0" cy="3931920"/>
          </a:xfrm>
          <a:prstGeom prst="line">
            <a:avLst/>
          </a:prstGeom>
          <a:noFill/>
          <a:ln w="19050">
            <a:solidFill>
              <a:srgbClr val="1E408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</a:rPr>
              <a:t>Prompt 工程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1417320"/>
            <a:ext cx="4023360" cy="868680"/>
          </a:xfrm>
          <a:prstGeom prst="rect">
            <a:avLst/>
          </a:prstGeom>
          <a:solidFill>
            <a:srgbClr val="1A0A00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</a:rPr>
              <a:t>⚡ 权重最高的底层技能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所有 LLM/Agent 项目都需要，是投入产出比最高的技能，且无需额外安装工具。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395728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2514600"/>
            <a:ext cx="219456" cy="21945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6" name="Text 44"/>
          <p:cNvSpPr/>
          <p:nvPr/>
        </p:nvSpPr>
        <p:spPr>
          <a:xfrm>
            <a:off x="5084064" y="2441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Chain of Thought (CoT)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84064" y="2642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让 LLM 逐步推理，显著提升复杂任务准确率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916936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3035808"/>
            <a:ext cx="219456" cy="21945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50" name="Text 48"/>
          <p:cNvSpPr/>
          <p:nvPr/>
        </p:nvSpPr>
        <p:spPr>
          <a:xfrm>
            <a:off x="5084064" y="29626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Few-shot 示例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84064" y="31638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给出 2-5 个输入/输出范例，引导 LLM 输出格式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438144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3168" y="3557016"/>
            <a:ext cx="219456" cy="21945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54" name="Text 52"/>
          <p:cNvSpPr/>
          <p:nvPr/>
        </p:nvSpPr>
        <p:spPr>
          <a:xfrm>
            <a:off x="5084064" y="34838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框架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84064" y="36850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Reason + Act 循环，Agent 推理与工具调用交替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3959352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73168" y="4078224"/>
            <a:ext cx="219456" cy="21945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58" name="Text 56"/>
          <p:cNvSpPr/>
          <p:nvPr/>
        </p:nvSpPr>
        <p:spPr>
          <a:xfrm>
            <a:off x="5084064" y="40050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结构化输出 / Instructor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084064" y="4206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JSON Mode 强制输出，提升生产系统可靠性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480560"/>
            <a:ext cx="402336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73168" y="4599432"/>
            <a:ext cx="219456" cy="21945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62" name="Text 60"/>
          <p:cNvSpPr/>
          <p:nvPr/>
        </p:nvSpPr>
        <p:spPr>
          <a:xfrm>
            <a:off x="5084064" y="4526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DSPy 自动优化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084064" y="4727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0"/>
                </a:solidFill>
              </a:rPr>
              <a:t>编程代替手工调试，自动寻找最优 Prompt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E040F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记忆 · 可观测性 · 部署 · 安全合规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40FB"/>
                </a:solidFill>
              </a:rPr>
              <a:t>生产级 Agent 的四大支柱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425196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78992"/>
            <a:ext cx="4251960" cy="45720"/>
          </a:xfrm>
          <a:prstGeom prst="rect">
            <a:avLst/>
          </a:prstGeom>
          <a:solidFill>
            <a:srgbClr val="E040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1521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记忆与状态管理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" y="1700784"/>
            <a:ext cx="146304" cy="146304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60934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短期记忆：对话历史 · 滑动窗口 · 摘要压缩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" y="2112264"/>
            <a:ext cx="146304" cy="146304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02082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长期记忆：Mem0 / Zep · 跨会话个性化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2523744"/>
            <a:ext cx="146304" cy="146304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243230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状态持久化：Redis/PG + LangGraph · 断点续跑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078992"/>
            <a:ext cx="425196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078992"/>
            <a:ext cx="4251960" cy="45720"/>
          </a:xfrm>
          <a:prstGeom prst="rect">
            <a:avLst/>
          </a:prstGeom>
          <a:solidFill>
            <a:srgbClr val="26C6D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70432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93792" y="11521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评估与可观测性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64608" y="1700784"/>
            <a:ext cx="146304" cy="14630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21" name="Text 17"/>
          <p:cNvSpPr/>
          <p:nvPr/>
        </p:nvSpPr>
        <p:spPr>
          <a:xfrm>
            <a:off x="5102352" y="160934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LangSmith：每步 LLM 调用追踪可视化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64608" y="2112264"/>
            <a:ext cx="146304" cy="14630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23" name="Text 19"/>
          <p:cNvSpPr/>
          <p:nvPr/>
        </p:nvSpPr>
        <p:spPr>
          <a:xfrm>
            <a:off x="5102352" y="202082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LangFuse / Arize：Token 消耗 · 延迟监控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64608" y="2523744"/>
            <a:ext cx="146304" cy="14630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25" name="Text 21"/>
          <p:cNvSpPr/>
          <p:nvPr/>
        </p:nvSpPr>
        <p:spPr>
          <a:xfrm>
            <a:off x="5102352" y="243230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RAGAS / DeepEval：RAG 质量量化评估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82880" y="3044952"/>
            <a:ext cx="425196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182880" y="3044952"/>
            <a:ext cx="4251960" cy="45720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36392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13232" y="3118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部署与工程化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384048" y="3666744"/>
            <a:ext cx="146304" cy="146304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1" name="Text 26"/>
          <p:cNvSpPr/>
          <p:nvPr/>
        </p:nvSpPr>
        <p:spPr>
          <a:xfrm>
            <a:off x="621792" y="357530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FastAPI / LangServe：Agent API 化封装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384048" y="4078224"/>
            <a:ext cx="146304" cy="146304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3" name="Text 28"/>
          <p:cNvSpPr/>
          <p:nvPr/>
        </p:nvSpPr>
        <p:spPr>
          <a:xfrm>
            <a:off x="621792" y="398678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Docker / K8s：容器化 · 弹性伸缩 · 高可用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84048" y="4489704"/>
            <a:ext cx="146304" cy="146304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5" name="Text 30"/>
          <p:cNvSpPr/>
          <p:nvPr/>
        </p:nvSpPr>
        <p:spPr>
          <a:xfrm>
            <a:off x="621792" y="439826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消息队列：Kafka/Redis · 异步高并发任务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663440" y="3044952"/>
            <a:ext cx="425196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663440" y="3044952"/>
            <a:ext cx="4251960" cy="45720"/>
          </a:xfrm>
          <a:prstGeom prst="rect">
            <a:avLst/>
          </a:prstGeom>
          <a:solidFill>
            <a:srgbClr val="FF4757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36392"/>
            <a:ext cx="320040" cy="32004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193792" y="3118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安全与合规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4864608" y="3666744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41" name="Text 35"/>
          <p:cNvSpPr/>
          <p:nvPr/>
        </p:nvSpPr>
        <p:spPr>
          <a:xfrm>
            <a:off x="5102352" y="357530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Guardrails：NeMo/Guardrails AI 内容过滤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864608" y="4078224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43" name="Text 37"/>
          <p:cNvSpPr/>
          <p:nvPr/>
        </p:nvSpPr>
        <p:spPr>
          <a:xfrm>
            <a:off x="5102352" y="398678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提示注入防御：OWASP LLM Top10 实践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864608" y="4489704"/>
            <a:ext cx="146304" cy="14630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45" name="Text 39"/>
          <p:cNvSpPr/>
          <p:nvPr/>
        </p:nvSpPr>
        <p:spPr>
          <a:xfrm>
            <a:off x="5102352" y="439826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多租户隔离：Auth0 / AWS IAM · RBAC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 阶段学习路径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E0"/>
                </a:solidFill>
              </a:rPr>
              <a:t>由浅入深 · 循序渐进 · 每阶段均有可交付产出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1078992"/>
            <a:ext cx="2103120" cy="6858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第一阶段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463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</a:rPr>
              <a:t>打地基  ·  约 6-8 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380744"/>
            <a:ext cx="128016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" y="1792224"/>
            <a:ext cx="21031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" y="195681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8836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Prompt Engineering  ★10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" y="227685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037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OpenAI / Claude API  ★10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" y="259689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523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Function Calling  ★10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" y="291693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437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结构化输出 Instructor  ★9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" y="323697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6382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LangChain  ★9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" y="355701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4838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向量数据库  ★9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" y="387705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8039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Embedding 模型  ★9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" y="4197096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1239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FastAPI / LangServe  ★9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" y="4581144"/>
            <a:ext cx="2103120" cy="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Shape 26"/>
          <p:cNvSpPr/>
          <p:nvPr/>
        </p:nvSpPr>
        <p:spPr>
          <a:xfrm>
            <a:off x="2368296" y="1078992"/>
            <a:ext cx="2103120" cy="68580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59736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第二阶段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59736" y="1463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</a:rPr>
              <a:t>能力扩展  ·  约 6-8 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71416" y="1380744"/>
            <a:ext cx="128016" cy="7315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2" name="Shape 30"/>
          <p:cNvSpPr/>
          <p:nvPr/>
        </p:nvSpPr>
        <p:spPr>
          <a:xfrm>
            <a:off x="2368296" y="1792224"/>
            <a:ext cx="21031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78024" y="195681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4" name="Text 32"/>
          <p:cNvSpPr/>
          <p:nvPr/>
        </p:nvSpPr>
        <p:spPr>
          <a:xfrm>
            <a:off x="2642616" y="18836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LangGraph 状态机  ★9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78024" y="227685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2642616" y="22037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MCP 协议  ★9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78024" y="259689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8" name="Text 36"/>
          <p:cNvSpPr/>
          <p:nvPr/>
        </p:nvSpPr>
        <p:spPr>
          <a:xfrm>
            <a:off x="2642616" y="2523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Agent 状态持久化  ★8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78024" y="291693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0" name="Text 38"/>
          <p:cNvSpPr/>
          <p:nvPr/>
        </p:nvSpPr>
        <p:spPr>
          <a:xfrm>
            <a:off x="2642616" y="28437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LangSmith 调试  ★8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78024" y="323697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2" name="Text 40"/>
          <p:cNvSpPr/>
          <p:nvPr/>
        </p:nvSpPr>
        <p:spPr>
          <a:xfrm>
            <a:off x="2642616" y="316382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Docker / K8s  ★8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478024" y="355701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4" name="Text 42"/>
          <p:cNvSpPr/>
          <p:nvPr/>
        </p:nvSpPr>
        <p:spPr>
          <a:xfrm>
            <a:off x="2642616" y="34838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Guardrails 安全  ★8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78024" y="387705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6" name="Text 44"/>
          <p:cNvSpPr/>
          <p:nvPr/>
        </p:nvSpPr>
        <p:spPr>
          <a:xfrm>
            <a:off x="2642616" y="38039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提示注入防御  ★8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78024" y="4197096"/>
            <a:ext cx="91440" cy="91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8" name="Text 46"/>
          <p:cNvSpPr/>
          <p:nvPr/>
        </p:nvSpPr>
        <p:spPr>
          <a:xfrm>
            <a:off x="2642616" y="41239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CrewAI / AutoGen  ★7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368296" y="4581144"/>
            <a:ext cx="2103120" cy="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0" name="Shape 48"/>
          <p:cNvSpPr/>
          <p:nvPr/>
        </p:nvSpPr>
        <p:spPr>
          <a:xfrm>
            <a:off x="4599432" y="1078992"/>
            <a:ext cx="2103120" cy="68580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90872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第三阶段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90872" y="1463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</a:rPr>
              <a:t>工程化  ·  约 4-6 周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02552" y="1380744"/>
            <a:ext cx="128016" cy="731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4" name="Shape 52"/>
          <p:cNvSpPr/>
          <p:nvPr/>
        </p:nvSpPr>
        <p:spPr>
          <a:xfrm>
            <a:off x="4599432" y="1792224"/>
            <a:ext cx="21031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195681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6" name="Text 54"/>
          <p:cNvSpPr/>
          <p:nvPr/>
        </p:nvSpPr>
        <p:spPr>
          <a:xfrm>
            <a:off x="4873752" y="18836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开源模型私有部署  ★7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9160" y="227685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8" name="Text 56"/>
          <p:cNvSpPr/>
          <p:nvPr/>
        </p:nvSpPr>
        <p:spPr>
          <a:xfrm>
            <a:off x="4873752" y="22037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Pydantic AI  ★7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09160" y="259689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0" name="Text 58"/>
          <p:cNvSpPr/>
          <p:nvPr/>
        </p:nvSpPr>
        <p:spPr>
          <a:xfrm>
            <a:off x="4873752" y="2523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长期记忆 Mem0  ★7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291693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2" name="Text 60"/>
          <p:cNvSpPr/>
          <p:nvPr/>
        </p:nvSpPr>
        <p:spPr>
          <a:xfrm>
            <a:off x="4873752" y="28437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RAGAS 评估  ★7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09160" y="323697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4" name="Text 62"/>
          <p:cNvSpPr/>
          <p:nvPr/>
        </p:nvSpPr>
        <p:spPr>
          <a:xfrm>
            <a:off x="4873752" y="316382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消息队列 Kafka  ★7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09160" y="355701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6" name="Text 64"/>
          <p:cNvSpPr/>
          <p:nvPr/>
        </p:nvSpPr>
        <p:spPr>
          <a:xfrm>
            <a:off x="4873752" y="34838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多租户权限隔离  ★8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09160" y="387705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8" name="Text 66"/>
          <p:cNvSpPr/>
          <p:nvPr/>
        </p:nvSpPr>
        <p:spPr>
          <a:xfrm>
            <a:off x="4873752" y="38039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Agent 托管平台  ★7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09160" y="4197096"/>
            <a:ext cx="91440" cy="91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0" name="Text 68"/>
          <p:cNvSpPr/>
          <p:nvPr/>
        </p:nvSpPr>
        <p:spPr>
          <a:xfrm>
            <a:off x="4873752" y="41239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DSPy 自动优化  ★6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99432" y="4581144"/>
            <a:ext cx="2103120" cy="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2" name="Shape 70"/>
          <p:cNvSpPr/>
          <p:nvPr/>
        </p:nvSpPr>
        <p:spPr>
          <a:xfrm>
            <a:off x="6830568" y="1078992"/>
            <a:ext cx="2103120" cy="685800"/>
          </a:xfrm>
          <a:prstGeom prst="rect">
            <a:avLst/>
          </a:prstGeom>
          <a:solidFill>
            <a:srgbClr val="880E4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922008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第四阶段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922008" y="1463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</a:rPr>
              <a:t>前沿探索  ·  持续跟进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830568" y="1792224"/>
            <a:ext cx="210312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40296" y="1956816"/>
            <a:ext cx="91440" cy="9144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7" name="Text 75"/>
          <p:cNvSpPr/>
          <p:nvPr/>
        </p:nvSpPr>
        <p:spPr>
          <a:xfrm>
            <a:off x="7104888" y="18836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Computer Use GUI  ★6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940296" y="2276856"/>
            <a:ext cx="91440" cy="9144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9" name="Text 77"/>
          <p:cNvSpPr/>
          <p:nvPr/>
        </p:nvSpPr>
        <p:spPr>
          <a:xfrm>
            <a:off x="7104888" y="22037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多模态 Agent  ★6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940296" y="2596896"/>
            <a:ext cx="91440" cy="9144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81" name="Text 79"/>
          <p:cNvSpPr/>
          <p:nvPr/>
        </p:nvSpPr>
        <p:spPr>
          <a:xfrm>
            <a:off x="7104888" y="2523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Agent 微调  ★7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940296" y="2916936"/>
            <a:ext cx="91440" cy="9144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83" name="Text 81"/>
          <p:cNvSpPr/>
          <p:nvPr/>
        </p:nvSpPr>
        <p:spPr>
          <a:xfrm>
            <a:off x="7104888" y="28437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重排序 Reranker  ★7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830568" y="4581144"/>
            <a:ext cx="2103120" cy="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85" name="Shape 83"/>
          <p:cNvSpPr/>
          <p:nvPr/>
        </p:nvSpPr>
        <p:spPr>
          <a:xfrm>
            <a:off x="137160" y="4709160"/>
            <a:ext cx="8869680" cy="320040"/>
          </a:xfrm>
          <a:prstGeom prst="rect">
            <a:avLst/>
          </a:prstGeom>
          <a:solidFill>
            <a:srgbClr val="061528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" y="47365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E0"/>
                </a:solidFill>
              </a:rPr>
              <a:t>💡 每阶段目标：第一阶段完成可交付 Agent Demo → 第二阶段完成生产级部署 → 第三阶段平台化 → 第四阶段前沿差异化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技术重要性权重排行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</a:rPr>
              <a:t>优先掌握高权重技术，最大化学习投入产出比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78992"/>
            <a:ext cx="3200400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078992"/>
            <a:ext cx="3200400" cy="457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9" name="Text 6"/>
          <p:cNvSpPr/>
          <p:nvPr/>
        </p:nvSpPr>
        <p:spPr>
          <a:xfrm>
            <a:off x="5870448" y="1170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757"/>
                </a:solidFill>
              </a:rPr>
              <a:t>权重 10 分 — 必须掌握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70448" y="14264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Prompt 工程 · OpenAI API · Function Calling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084832"/>
            <a:ext cx="3200400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084832"/>
            <a:ext cx="3200400" cy="457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3" name="Text 10"/>
          <p:cNvSpPr/>
          <p:nvPr/>
        </p:nvSpPr>
        <p:spPr>
          <a:xfrm>
            <a:off x="5870448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</a:rPr>
              <a:t>权重 9 分 — 核心优先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70448" y="243230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LangChain · LangGraph · 向量数据库 · Embedding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Claude API · 结构化输出 · MCP · FastAPI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3090672"/>
            <a:ext cx="3200400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090672"/>
            <a:ext cx="32004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4"/>
          <p:cNvSpPr/>
          <p:nvPr/>
        </p:nvSpPr>
        <p:spPr>
          <a:xfrm>
            <a:off x="5870448" y="3182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权重 8 分 — 重要支撑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70448" y="34381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LangSmith · Docker/K8s · Guardrails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状态持久化 · 提示注入防御 · 权限隔离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4096512"/>
            <a:ext cx="3200400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4096512"/>
            <a:ext cx="3200400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1" name="Text 18"/>
          <p:cNvSpPr/>
          <p:nvPr/>
        </p:nvSpPr>
        <p:spPr>
          <a:xfrm>
            <a:off x="5870448" y="4187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权重 7 分 — 按需深入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870448" y="44439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CrewAI · AutoGen · Gemini API · 开源模型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Reranker · 消息队列 · Mem0 · Agent 微调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3716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行动建议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" y="2176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E0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现在是团队布局 AI Agent 的最佳窗口期。越早系统掌握，越能形成先发优势。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2743200" cy="502920"/>
          </a:xfrm>
          <a:prstGeom prst="rect">
            <a:avLst/>
          </a:prstGeom>
          <a:solidFill>
            <a:srgbClr val="00C2E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获取完整 Excel 技术栈清单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82880"/>
            <a:ext cx="5120640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0" y="182880"/>
            <a:ext cx="54864" cy="11155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2" name="Shape 9"/>
          <p:cNvSpPr/>
          <p:nvPr/>
        </p:nvSpPr>
        <p:spPr>
          <a:xfrm>
            <a:off x="3931920" y="27432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C2E0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274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本周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3440" y="256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启动第一阶段学习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05072" y="621792"/>
            <a:ext cx="109728" cy="109728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6" name="Text 13"/>
          <p:cNvSpPr/>
          <p:nvPr/>
        </p:nvSpPr>
        <p:spPr>
          <a:xfrm>
            <a:off x="4187952" y="5760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完成 OpenAI / Claude API 接入实践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005072" y="841248"/>
            <a:ext cx="109728" cy="109728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8" name="Text 15"/>
          <p:cNvSpPr/>
          <p:nvPr/>
        </p:nvSpPr>
        <p:spPr>
          <a:xfrm>
            <a:off x="4187952" y="795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学习 Prompt Engineering 核心技巧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05072" y="1060704"/>
            <a:ext cx="109728" cy="109728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20" name="Text 17"/>
          <p:cNvSpPr/>
          <p:nvPr/>
        </p:nvSpPr>
        <p:spPr>
          <a:xfrm>
            <a:off x="4187952" y="10149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搭建第一个 RAG 问答 Demo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840480" y="1417320"/>
            <a:ext cx="5120640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0" y="1417320"/>
            <a:ext cx="54864" cy="11155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Shape 20"/>
          <p:cNvSpPr/>
          <p:nvPr/>
        </p:nvSpPr>
        <p:spPr>
          <a:xfrm>
            <a:off x="3931920" y="150876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C896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0" y="1508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本月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6344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完成核心技术掌握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005072" y="1856232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7" name="Text 24"/>
          <p:cNvSpPr/>
          <p:nvPr/>
        </p:nvSpPr>
        <p:spPr>
          <a:xfrm>
            <a:off x="4187952" y="18105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LangChain 完整流程开发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05072" y="2075688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9" name="Text 26"/>
          <p:cNvSpPr/>
          <p:nvPr/>
        </p:nvSpPr>
        <p:spPr>
          <a:xfrm>
            <a:off x="4187952" y="20299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向量数据库 + Embedding 集成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005072" y="2295144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31" name="Text 28"/>
          <p:cNvSpPr/>
          <p:nvPr/>
        </p:nvSpPr>
        <p:spPr>
          <a:xfrm>
            <a:off x="4187952" y="22494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Function Calling Agent 实战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840480" y="2651760"/>
            <a:ext cx="5120640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840480" y="2651760"/>
            <a:ext cx="54864" cy="11155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4" name="Shape 31"/>
          <p:cNvSpPr/>
          <p:nvPr/>
        </p:nvSpPr>
        <p:spPr>
          <a:xfrm>
            <a:off x="3931920" y="274320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/>
        </p:spPr>
      </p:sp>
      <p:sp>
        <p:nvSpPr>
          <p:cNvPr id="35" name="Text 32"/>
          <p:cNvSpPr/>
          <p:nvPr/>
        </p:nvSpPr>
        <p:spPr>
          <a:xfrm>
            <a:off x="3931920" y="2743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季度目标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63440" y="2724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生产级 Agent 上线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005072" y="3090672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8" name="Text 35"/>
          <p:cNvSpPr/>
          <p:nvPr/>
        </p:nvSpPr>
        <p:spPr>
          <a:xfrm>
            <a:off x="4187952" y="30449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LangGraph 复杂状态 Agent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005072" y="3310128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0" name="Text 37"/>
          <p:cNvSpPr/>
          <p:nvPr/>
        </p:nvSpPr>
        <p:spPr>
          <a:xfrm>
            <a:off x="4187952" y="32644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Docker 容器化部署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005072" y="3529584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2" name="Text 39"/>
          <p:cNvSpPr/>
          <p:nvPr/>
        </p:nvSpPr>
        <p:spPr>
          <a:xfrm>
            <a:off x="4187952" y="34838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LangSmith 监控体系建立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840480" y="3886200"/>
            <a:ext cx="5120640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840480" y="3886200"/>
            <a:ext cx="54864" cy="1115568"/>
          </a:xfrm>
          <a:prstGeom prst="rect">
            <a:avLst/>
          </a:prstGeom>
          <a:solidFill>
            <a:srgbClr val="E040FB"/>
          </a:solidFill>
          <a:ln/>
        </p:spPr>
      </p:sp>
      <p:sp>
        <p:nvSpPr>
          <p:cNvPr id="45" name="Shape 42"/>
          <p:cNvSpPr/>
          <p:nvPr/>
        </p:nvSpPr>
        <p:spPr>
          <a:xfrm>
            <a:off x="3931920" y="397764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E040FB"/>
          </a:solidFill>
          <a:ln/>
        </p:spPr>
      </p:sp>
      <p:sp>
        <p:nvSpPr>
          <p:cNvPr id="46" name="Text 43"/>
          <p:cNvSpPr/>
          <p:nvPr/>
        </p:nvSpPr>
        <p:spPr>
          <a:xfrm>
            <a:off x="393192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年度愿景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663440" y="3959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团队 Agent 能力体系化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4005072" y="4325112"/>
            <a:ext cx="109728" cy="109728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49" name="Text 46"/>
          <p:cNvSpPr/>
          <p:nvPr/>
        </p:nvSpPr>
        <p:spPr>
          <a:xfrm>
            <a:off x="4187952" y="42793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完整 10 大领域覆盖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005072" y="4544568"/>
            <a:ext cx="109728" cy="109728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51" name="Text 48"/>
          <p:cNvSpPr/>
          <p:nvPr/>
        </p:nvSpPr>
        <p:spPr>
          <a:xfrm>
            <a:off x="4187952" y="44988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内部 Agent 平台搭建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005072" y="4764024"/>
            <a:ext cx="109728" cy="109728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53" name="Text 50"/>
          <p:cNvSpPr/>
          <p:nvPr/>
        </p:nvSpPr>
        <p:spPr>
          <a:xfrm>
            <a:off x="4187952" y="47183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前沿能力持续探索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91D3E">
              <a:alpha val="80000"/>
            </a:srgbClr>
          </a:solidFill>
          <a:ln w="19050">
            <a:solidFill>
              <a:srgbClr val="00C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91D3E">
              <a:alpha val="80000"/>
            </a:srgbClr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3840480" y="5486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E0"/>
                </a:solidFill>
              </a:rPr>
              <a:t>不是未来，是现在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</a:rPr>
              <a:t>掌握 37 项核心技术 · 建立团队技术壁垒 · 赢得 AI 时代竞争优势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4407408"/>
            <a:ext cx="2743200" cy="457200"/>
          </a:xfrm>
          <a:prstGeom prst="rect">
            <a:avLst/>
          </a:prstGeom>
          <a:solidFill>
            <a:srgbClr val="00C2E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4407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感谢聆听 · 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技术全栈全景图</dc:title>
  <dc:subject>PptxGenJS Presentation</dc:subject>
  <dc:creator>AI Agent 专业研发团队</dc:creator>
  <cp:lastModifiedBy>AI Agent 专业研发团队</cp:lastModifiedBy>
  <cp:revision>1</cp:revision>
  <dcterms:created xsi:type="dcterms:W3CDTF">2026-05-16T07:57:43Z</dcterms:created>
  <dcterms:modified xsi:type="dcterms:W3CDTF">2026-05-16T07:57:43Z</dcterms:modified>
</cp:coreProperties>
</file>